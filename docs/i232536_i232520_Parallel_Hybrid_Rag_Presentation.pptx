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9144000" cy="51435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 xml:space="preserve">Accuracy (%)</c:v>
                </c:pt>
              </c:strCache>
            </c:strRef>
          </c:tx>
          <c:spPr bwMode="auto">
            <a:prstGeom prst="rect">
              <a:avLst/>
            </a:prstGeom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5B9BD5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065A82"/>
              </a:solidFill>
              <a:effectLst/>
            </c:spPr>
          </c:dPt>
          <c:dLbls>
            <c:numFmt formatCode="0.0&quot;%&quot;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Sheet1!$A$2:$A$6</c:f>
              <c:multiLvlStrCache>
                <c:ptCount val="5"/>
                <c:lvl>
                  <c:pt idx="0">
                    <c:v xml:space="preserve">Full-Context Oracle</c:v>
                  </c:pt>
                  <c:pt idx="1">
                    <c:v xml:space="preserve">Zep / Graphiti
(Baseline)</c:v>
                  </c:pt>
                  <c:pt idx="2">
                    <c:v xml:space="preserve">Qdrant Semantic
(Standalone)</c:v>
                  </c:pt>
                  <c:pt idx="3">
                    <c:v xml:space="preserve">Graphiti Temporal
(Standalone)</c:v>
                  </c:pt>
                  <c:pt idx="4">
                    <c:v xml:space="preserve">Hybrid Parallel
(Ours)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56.7</c:v>
                </c:pt>
                <c:pt idx="2">
                  <c:v>66.7</c:v>
                </c:pt>
                <c:pt idx="3">
                  <c:v>66.7</c:v>
                </c:pt>
                <c:pt idx="4">
                  <c:v>73.3</c:v>
                </c:pt>
              </c:numCache>
            </c:numRef>
          </c:val>
        </c:ser>
        <c:dLbls>
          <c:numFmt formatCode="0.0&quot;%&quot;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200" b="0" i="0" u="none" strike="noStrike">
                  <a:solidFill>
                    <a:srgbClr val="1E293B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>
      <a:off x="457200" y="1005840"/>
      <a:ext cx="8229600" cy="3749040"/>
    </a:xfrm>
    <a:prstGeom prst="rect">
      <a:avLst/>
    </a:prstGeom>
    <a:solidFill>
      <a:srgbClr val="F0F6FA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457200" y="914400"/>
            <a:ext cx="8321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Parallel Hybrid Retrieval</a:t>
            </a:r>
            <a:endParaRPr lang="en-US" sz="3800"/>
          </a:p>
        </p:txBody>
      </p:sp>
      <p:sp>
        <p:nvSpPr>
          <p:cNvPr id="4" name="Text 2"/>
          <p:cNvSpPr/>
          <p:nvPr/>
        </p:nvSpPr>
        <p:spPr bwMode="auto">
          <a:xfrm>
            <a:off x="457200" y="1737360"/>
            <a:ext cx="83210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Enhancing Temporal RAG via Concurrent Graphiti and Semantic Search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 bwMode="auto">
          <a:xfrm>
            <a:off x="548640" y="2468880"/>
            <a:ext cx="80467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57200" y="2651760"/>
            <a:ext cx="8321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Muhammad Ibrahim Kiani  ·  Muhammad Noor ul Haq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 bwMode="auto">
          <a:xfrm>
            <a:off x="457200" y="3017519"/>
            <a:ext cx="8321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FAST National University of Computer and Emerging Sciences, Islamabad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 bwMode="auto">
          <a:xfrm>
            <a:off x="6583680" y="3611880"/>
            <a:ext cx="2286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658368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73.3%</a:t>
            </a:r>
            <a:endParaRPr lang="en-US" sz="3600"/>
          </a:p>
        </p:txBody>
      </p:sp>
      <p:sp>
        <p:nvSpPr>
          <p:cNvPr id="10" name="Text 8"/>
          <p:cNvSpPr/>
          <p:nvPr/>
        </p:nvSpPr>
        <p:spPr bwMode="auto">
          <a:xfrm>
            <a:off x="658368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Hybrid System Accuracy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The Problem: Temporal Blindness in RAG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914400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65760" y="109728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 bwMode="auto">
          <a:xfrm>
            <a:off x="5029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🔍  Pure Semantic Search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 bwMode="auto">
          <a:xfrm>
            <a:off x="502920" y="153619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Retrieves contextually similar passages but is temporally oblivious — an old job description scores equally with a current one. Cannot distinguish stale vs. fresh facts.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 bwMode="auto">
          <a:xfrm>
            <a:off x="4572000" y="109728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 bwMode="auto">
          <a:xfrm>
            <a:off x="470916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🕸️  Temporal Knowledge Graphs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 bwMode="auto">
          <a:xfrm>
            <a:off x="4709160" y="153619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Captures event timelines with valid/invalid timestamps. But LLM-based entity extraction may miss nuanced semantic relationships more naturally captured by dense embeddings.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 bwMode="auto">
          <a:xfrm>
            <a:off x="3977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3600"/>
          </a:p>
        </p:txBody>
      </p:sp>
      <p:sp>
        <p:nvSpPr>
          <p:cNvPr id="11" name="Shape 9"/>
          <p:cNvSpPr/>
          <p:nvPr/>
        </p:nvSpPr>
        <p:spPr bwMode="auto">
          <a:xfrm>
            <a:off x="365760" y="3291840"/>
            <a:ext cx="813816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 bwMode="auto">
          <a:xfrm>
            <a:off x="5943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Hypothesis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 bwMode="auto">
          <a:xfrm>
            <a:off x="59436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Executing both modalities in parallel and aggregating outputs — with a temporal cross-reference layer to flag expired content — outperforms either approach alone.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Key Contributions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 bwMode="auto">
          <a:xfrm>
            <a:off x="548640" y="960120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 bwMode="auto">
          <a:xfrm>
            <a:off x="457200" y="1188720"/>
            <a:ext cx="6858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57200" y="1234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 bwMode="auto">
          <a:xfrm>
            <a:off x="132588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Parallel Hybrid Retrieval Architecture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 bwMode="auto">
          <a:xfrm>
            <a:off x="1325880" y="1527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Concurrent Graphiti temporal search + Qdrant semantic search, merged via a temporal cross-reference aggregation layer that flags TEMPORALLY EXPIRED chunks.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457200" y="2377440"/>
            <a:ext cx="6858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457200" y="2423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 bwMode="auto">
          <a:xfrm>
            <a:off x="1325880" y="2395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MapReduce Ingestion Pipeline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 bwMode="auto">
          <a:xfrm>
            <a:off x="1325880" y="2715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Parallelises LLM fact extraction (MAP) across all haystack sessions, sorts chronologically (SORT), then ingests sequentially (REDUCE). Theoretical 700× throughput improvement.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 bwMode="auto">
          <a:xfrm>
            <a:off x="457200" y="3566160"/>
            <a:ext cx="6858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457200" y="36118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 bwMode="auto">
          <a:xfrm>
            <a:off x="1325880" y="3584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Empirical Evaluation on LongMemEval-S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 bwMode="auto">
          <a:xfrm>
            <a:off x="1325880" y="39044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73.3% accuracy on single-session-preference tasks — a 16.6 pp improvement over the Zep temporal-graph baseline (56.7%) and above standalone approaches (66.7% each).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 bwMode="auto"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INGESTION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 bwMode="auto">
          <a:xfrm>
            <a:off x="365760" y="13716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5720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Raw Conversational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Documents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 bwMode="auto">
          <a:xfrm>
            <a:off x="3200400" y="13716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329184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Qdrant Vector DB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(BAAI/bge embeddings)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 bwMode="auto">
          <a:xfrm>
            <a:off x="6035039" y="137160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612648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Graphiti / Neo4j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(MapReduce Pipeline)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 bwMode="auto">
          <a:xfrm>
            <a:off x="297180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 bwMode="auto">
          <a:xfrm>
            <a:off x="580644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 bwMode="auto">
          <a:xfrm>
            <a:off x="3657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QUERY TIME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365760" y="2514600"/>
            <a:ext cx="246888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36576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Query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 bwMode="auto">
          <a:xfrm>
            <a:off x="2926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↗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 bwMode="auto">
          <a:xfrm>
            <a:off x="2926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↘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 bwMode="auto">
          <a:xfrm>
            <a:off x="3520440" y="228600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 bwMode="auto">
          <a:xfrm>
            <a:off x="3657600" y="234315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Thread 1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 bwMode="auto">
          <a:xfrm>
            <a:off x="3657600" y="267233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Qdrant Cosine Search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</p:txBody>
      </p:sp>
      <p:sp>
        <p:nvSpPr>
          <p:cNvPr id="21" name="Shape 19"/>
          <p:cNvSpPr/>
          <p:nvPr/>
        </p:nvSpPr>
        <p:spPr bwMode="auto">
          <a:xfrm>
            <a:off x="3520440" y="3017519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 bwMode="auto">
          <a:xfrm>
            <a:off x="3657600" y="3054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Thread 2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 bwMode="auto">
          <a:xfrm>
            <a:off x="3657600" y="338328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Graphiti Temporal Search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 bwMode="auto">
          <a:xfrm>
            <a:off x="59436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25" name="Shape 23"/>
          <p:cNvSpPr/>
          <p:nvPr/>
        </p:nvSpPr>
        <p:spPr bwMode="auto">
          <a:xfrm>
            <a:off x="6492240" y="2423160"/>
            <a:ext cx="2377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 bwMode="auto">
          <a:xfrm>
            <a:off x="649224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Aggregation &amp;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Ranking Layer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 bwMode="auto">
          <a:xfrm>
            <a:off x="59436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28" name="Shape 26"/>
          <p:cNvSpPr/>
          <p:nvPr/>
        </p:nvSpPr>
        <p:spPr bwMode="auto">
          <a:xfrm>
            <a:off x="6492240" y="3429000"/>
            <a:ext cx="23774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649224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(GPT-4o)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Generation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 bwMode="auto"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Expired chunks annotated as TEMPORALLY EXPIRED before LLM context assembly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MapReduce Ingestion Pipeline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65760" y="109728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457200" y="1115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1  ·  MAP (Parallel)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 bwMode="auto">
          <a:xfrm>
            <a:off x="365760" y="1600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02920" y="1691640"/>
            <a:ext cx="246888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All 700 haystack sessions processed concurrently. Raw LLM calls extract structured facts &amp; entities. asyncio.Semaphore bounds concurrent API requests.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 bwMode="auto">
          <a:xfrm>
            <a:off x="3108960" y="14173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 bwMode="auto">
          <a:xfrm>
            <a:off x="3291840" y="1097280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3383280" y="1115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2  ·  SORT (Chronological)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 bwMode="auto">
          <a:xfrm>
            <a:off x="3291840" y="1600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12" name="Text 10"/>
          <p:cNvSpPr/>
          <p:nvPr/>
        </p:nvSpPr>
        <p:spPr bwMode="auto">
          <a:xfrm>
            <a:off x="3429000" y="1691640"/>
            <a:ext cx="246888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Extracted fact sets sorted chronologically by reference timestamps (haystack_dates field). Restores correct temporal sequence before ingestion.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 bwMode="auto">
          <a:xfrm>
            <a:off x="6035039" y="14173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200"/>
          </a:p>
        </p:txBody>
      </p:sp>
      <p:sp>
        <p:nvSpPr>
          <p:cNvPr id="14" name="Shape 12"/>
          <p:cNvSpPr/>
          <p:nvPr/>
        </p:nvSpPr>
        <p:spPr bwMode="auto">
          <a:xfrm>
            <a:off x="6217920" y="1097280"/>
            <a:ext cx="2743200" cy="502920"/>
          </a:xfrm>
          <a:prstGeom prst="rect">
            <a:avLst/>
          </a:prstGeom>
          <a:solidFill>
            <a:srgbClr val="1A4F6E"/>
          </a:solidFill>
          <a:ln w="12700">
            <a:solidFill>
              <a:srgbClr val="1A4F6E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6309360" y="1115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PHASE 3  ·  REDUCE (Sequential)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 bwMode="auto">
          <a:xfrm>
            <a:off x="6217920" y="1600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6355080" y="1691640"/>
            <a:ext cx="246888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Sorted, pre-extracted facts fed into Graphiti one at a time. Processes concise fact summaries rather than raw transcripts. Temporal order preserved.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 bwMode="auto">
          <a:xfrm>
            <a:off x="365760" y="3474720"/>
            <a:ext cx="84124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 bwMode="auto">
          <a:xfrm>
            <a:off x="548640" y="354787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700×</a:t>
            </a:r>
            <a:endParaRPr lang="en-US" sz="5200"/>
          </a:p>
        </p:txBody>
      </p:sp>
      <p:sp>
        <p:nvSpPr>
          <p:cNvPr id="20" name="Text 18"/>
          <p:cNvSpPr/>
          <p:nvPr/>
        </p:nvSpPr>
        <p:spPr bwMode="auto">
          <a:xfrm>
            <a:off x="2286000" y="3566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Theoretical Throughput Improvement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 bwMode="auto">
          <a:xfrm>
            <a:off x="2286000" y="3977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MAP phase is embarrassingly parallel across all sessions — LLM extraction is already complete before sequential REDUCE begins, so the bottleneck is eliminated.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Experimental Setup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65760" y="1097280"/>
            <a:ext cx="2834640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 bwMode="auto">
          <a:xfrm>
            <a:off x="365760" y="1097280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Benchmark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 bwMode="auto">
          <a:xfrm>
            <a:off x="502920" y="1572768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LongMemEval-S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Single-session-preference subset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 = 15 questions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Task: identify user preferences expressed in one past session amid 700 distractor sessions.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 bwMode="auto">
          <a:xfrm>
            <a:off x="3337560" y="1097280"/>
            <a:ext cx="2834640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 bwMode="auto">
          <a:xfrm>
            <a:off x="3337560" y="1097280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34290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Models &amp; Cost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 bwMode="auto">
          <a:xfrm>
            <a:off x="3474720" y="1572768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Ingestion: Gemma 4 26B (A4B)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63.9M tokens · $6.81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Eval: GPT-4o (2024-11-20)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Embeddings: BAAI/bge-base-en-v1.5 (GPU local)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Total: $10.10 / 87.7M tokens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6309360" y="1097280"/>
            <a:ext cx="2834640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 bwMode="auto">
          <a:xfrm>
            <a:off x="6309360" y="1097280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64008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 Config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 bwMode="auto">
          <a:xfrm>
            <a:off x="6446520" y="1572768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Qdrant: top-10 chunks by cosine similarity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Filtered by question_id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Graphiti: up to 200 facts &amp; entities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Scoped by group_id</a:t>
            </a:r>
            <a:endParaRPr lang="en-US" sz="1150"/>
          </a:p>
          <a:p>
            <a:pPr marL="0" indent="0">
              <a:buNone/>
              <a:defRPr/>
            </a:pP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Hybrid: asyncio.gather for concurrent execution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 bwMode="auto">
          <a:xfrm>
            <a:off x="365760" y="4297680"/>
            <a:ext cx="8412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548640" y="4325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Evaluation: LLM-as-a-Judge  ·  GPT-4o binary CORRECT / INCORRECT verdict  ·  Eval cost ≈ $2.86 for 15 questions across 3 approaches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Results: Accuracy Comparison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graphicFrame>
        <p:nvGraphicFramePr>
          <p:cNvPr id="4" name="Chart 0" descr=""/>
          <p:cNvGraphicFramePr>
            <a:graphicFrameLocks xmlns:a="http://schemas.openxmlformats.org/drawingml/2006/main"/>
          </p:cNvGraphicFramePr>
          <p:nvPr/>
        </p:nvGraphicFramePr>
        <p:xfrm>
          <a:off x="45720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Detailed System Metrics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xmlns:a="http://schemas.openxmlformats.org/drawingml/2006/main"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43200"/>
                <a:gridCol w="1645920"/>
                <a:gridCol w="1645920"/>
                <a:gridCol w="2194560"/>
              </a:tblGrid>
              <a:tr h="5715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  <a:round/>
                    </a:lnT>
                    <a:lnB w="12700" algn="ctr">
                      <a:solidFill>
                        <a:srgbClr val="D0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Score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Latency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Avg. Tokens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  <a:round/>
                    </a:lnT>
                    <a:lnB w="12700" algn="ctr">
                      <a:solidFill>
                        <a:srgbClr val="D0E4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Qdrant (Semantic)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66.7%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11.3 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31,232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</a:lnB>
                  </a:tcPr>
                </a:tc>
              </a:tr>
              <a:tr h="5715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Graphiti (Temporal)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66.7%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  <a:round/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9.7 s ⚡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9,625 ✓ most efficient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</a:lnB>
                  </a:tcPr>
                </a:tc>
              </a:tr>
              <a:tr h="5715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Hybrid Parallel (Ours)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73.3% 🏆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</a:lnR>
                    <a:lnT w="12700" algn="ctr">
                      <a:solidFill>
                        <a:srgbClr val="D0E4EF"/>
                      </a:solidFill>
                      <a:round/>
                    </a:lnT>
                    <a:lnB w="12700" algn="ctr">
                      <a:solidFill>
                        <a:srgbClr val="D0E4EF"/>
                      </a:solidFill>
                      <a:round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15.7 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  <a:round/>
                    </a:lnT>
                    <a:lnB w="12700" algn="ctr">
                      <a:solidFill>
                        <a:srgbClr val="D0E4EF"/>
                      </a:solidFill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40,759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0E4EF"/>
                      </a:solidFill>
                      <a:round/>
                    </a:lnL>
                    <a:lnR w="12700" algn="ctr">
                      <a:solidFill>
                        <a:srgbClr val="D0E4EF"/>
                      </a:solidFill>
                      <a:round/>
                    </a:lnR>
                    <a:lnT w="12700" algn="ctr">
                      <a:solidFill>
                        <a:srgbClr val="D0E4EF"/>
                      </a:solidFill>
                    </a:lnT>
                    <a:lnB w="12700" algn="ctr">
                      <a:solidFill>
                        <a:srgbClr val="D0E4EF"/>
                      </a:solidFill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 bwMode="auto">
          <a:xfrm>
            <a:off x="457200" y="36118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 bwMode="auto">
          <a:xfrm>
            <a:off x="457200" y="3657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16.6 pp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 bwMode="auto">
          <a:xfrm>
            <a:off x="54864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Improvement over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Zep Baseline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 bwMode="auto">
          <a:xfrm>
            <a:off x="3337560" y="36118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 bwMode="auto">
          <a:xfrm>
            <a:off x="3337560" y="3657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77%</a:t>
            </a:r>
            <a:endParaRPr lang="en-US" sz="3000"/>
          </a:p>
        </p:txBody>
      </p:sp>
      <p:sp>
        <p:nvSpPr>
          <p:cNvPr id="10" name="Text 7"/>
          <p:cNvSpPr/>
          <p:nvPr/>
        </p:nvSpPr>
        <p:spPr bwMode="auto">
          <a:xfrm>
            <a:off x="342900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Token reduction: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Graphiti vs Hybrid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 bwMode="auto">
          <a:xfrm>
            <a:off x="6217920" y="36118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 bwMode="auto">
          <a:xfrm>
            <a:off x="6217920" y="3657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37%</a:t>
            </a:r>
            <a:endParaRPr lang="en-US" sz="3000"/>
          </a:p>
        </p:txBody>
      </p:sp>
      <p:sp>
        <p:nvSpPr>
          <p:cNvPr id="13" name="Text 10"/>
          <p:cNvSpPr/>
          <p:nvPr/>
        </p:nvSpPr>
        <p:spPr bwMode="auto">
          <a:xfrm>
            <a:off x="630936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Latency cost of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5A7A94"/>
                </a:solidFill>
                <a:latin typeface="Calibri"/>
                <a:ea typeface="Calibri"/>
                <a:cs typeface="Calibri"/>
              </a:rPr>
              <a:t>hybrid approach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0F6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Discussion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896112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 bwMode="auto">
          <a:xfrm>
            <a:off x="365760" y="1097280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 bwMode="auto">
          <a:xfrm>
            <a:off x="960120" y="1124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Why Hybrid Outperforms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 bwMode="auto">
          <a:xfrm>
            <a:off x="960120" y="14813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Expired-edge detection prevents the LLM from being misled by outdated Qdrant chunks. Qdrant's dense retrieval recovers semantically relevant sessions that Graphiti's entity-centric graph may not surface — especially for preference statements lacking strong named entities.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 bwMode="auto">
          <a:xfrm>
            <a:off x="365760" y="2331720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⚖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 bwMode="auto">
          <a:xfrm>
            <a:off x="960120" y="2359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Latency–Accuracy Trade-off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 bwMode="auto">
          <a:xfrm>
            <a:off x="960120" y="27157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37% latency increase over Graphiti alone (15.7 s vs 9.7 s) from running two retrieval paths and processing longer combined context. Acceptable for batch/background pipelines; may need caching for synchronous serving.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 bwMode="auto">
          <a:xfrm>
            <a:off x="365760" y="3566160"/>
            <a:ext cx="45720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365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⚠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 bwMode="auto">
          <a:xfrm>
            <a:off x="960120" y="35935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8B4513"/>
                </a:solidFill>
                <a:latin typeface="Calibri"/>
                <a:ea typeface="Calibri"/>
                <a:cs typeface="Calibri"/>
              </a:rPr>
              <a:t>Limitations &amp; Future Work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 bwMode="auto">
          <a:xfrm>
            <a:off x="960120" y="39502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Evaluated on only 15 questions from one task type. Baseline comparison is approximate due to model-version differences. Future work: all LongMemEval types, wall-clock ingestion benchmarks, learned aggregation strategies, query-time edge caching.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 bwMode="auto">
          <a:xfrm>
            <a:off x="548640" y="960120"/>
            <a:ext cx="804672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 bwMode="auto">
          <a:xfrm>
            <a:off x="457200" y="1280160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68580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Parallel hybrid retrieval — Graphiti temporal + Qdrant semantic — addresses temporal blindness in RAG systems through concurrent execution and cross-reference aggregation.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 bwMode="auto">
          <a:xfrm>
            <a:off x="457200" y="2148840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685800" y="2057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73.3% accuracy on LongMemEval-S single-session-preference tasks: +16.6 pp over Zep baseline, +6.6 pp over standalone approaches.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 bwMode="auto">
          <a:xfrm>
            <a:off x="457200" y="3017519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685800" y="2926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MapReduce ingestion pipeline delivers a theoretical 700× throughput improvement by parallelising LLM fact extraction across all haystack sessions.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 bwMode="auto">
          <a:xfrm>
            <a:off x="457200" y="3886200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 bwMode="auto">
          <a:xfrm>
            <a:off x="685800" y="3794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Parallelism — in both retrieval and ingestion — is a productive design principle for temporally-aware conversational memory systems.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 bwMode="auto">
          <a:xfrm>
            <a:off x="457200" y="4663440"/>
            <a:ext cx="8321039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457200" y="4663440"/>
            <a:ext cx="8321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D6E8F5"/>
                </a:solidFill>
                <a:latin typeface="Calibri"/>
                <a:ea typeface="Calibri"/>
                <a:cs typeface="Calibri"/>
              </a:rPr>
              <a:t>FAST NUCES Islamabad  ·  LongMemEval-S  ·  Graphiti + Qdrant  ·  GPT-4o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ONLYOFFICE/7.3.3.0</Application>
  <DocSecurity>0</DocSecurity>
  <PresentationFormat>On-screen Show (16:9)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Hybrid Retrieval: Enhancing Temporal RAG</dc:title>
  <dc:subject>PptxGenJS Presentation</dc:subject>
  <dc:creator>PptxGenJS</dc:creator>
  <cp:keywords/>
  <dc:description/>
  <dc:identifier/>
  <dc:language/>
  <cp:lastModifiedBy>Guset_880</cp:lastModifiedBy>
  <cp:revision>2</cp:revision>
  <dcterms:created xsi:type="dcterms:W3CDTF">2026-05-05T21:11:16Z</dcterms:created>
  <dcterms:modified xsi:type="dcterms:W3CDTF">2026-05-05T21:42:24Z</dcterms:modified>
  <cp:category/>
  <cp:contentStatus/>
  <cp:version/>
</cp:coreProperties>
</file>